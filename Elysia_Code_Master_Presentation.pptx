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3840480" cy="411480"/>
          </a:xfrm>
          <a:prstGeom prst="roundRect">
            <a:avLst/>
          </a:prstGeom>
          <a:solidFill>
            <a:srgbClr val="12244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🚀 MASTER ENGINEERING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ELYSIA CODE</a:t>
            </a:r>
          </a:p>
          <a:p>
            <a:pPr>
              <a:spcBef>
                <a:spcPts val="600"/>
              </a:spcBef>
              <a:defRPr sz="1800">
                <a:solidFill>
                  <a:srgbClr val="38BDF8"/>
                </a:solidFill>
              </a:defRPr>
            </a:pPr>
            <a:r>
              <a:t>The Next-Generation Gamified Python Mastery &amp; Zero-to-Advanced IDE Ecosystem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Engineered with habit psychology, sub-15ms execution, cognitive visual handbooks, and automated college lab manual generation.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3328416" cy="228600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🧠 Addictive Pedagogy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Re-engineering coding education using YouTube/Instagram habit psychology, loss-aversion daily streaks, dopamine confetti physics, and senior mentorship.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3566160"/>
            <a:ext cx="3328416" cy="228600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⚡ Split-Screen Live IDE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Sub-15ms local execution engine, interactive stdin input bar for input(), client-side Pyodide WebAssembly fallback, and VS Code-grade keybindings.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3566160"/>
            <a:ext cx="3328416" cy="228600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📄 1-Click Lab Exporter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Industry-first automated college practical file generator producing academic A4 print-ready manuals with Aim, Algorithm, Code, Output, and Viva Q&amp;A.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Elysia Code Master Architecture Deck  •  Slide 1 of 14  •  http://localhost:8080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2440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F43F5E"/>
                </a:solidFill>
              </a:defRPr>
            </a:pPr>
            <a:r>
              <a:t>THE CORE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90% of Coding Beginners Drop Out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Traditional computer science education treats beginners like compilers, ignoring cognitive science, human psychology, and fear of failure.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468880" cy="3749039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🛑 Cognitive Friction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Complex environment setups (PATH errors, IDE crashes, package conflicts) exhaust student motivation before writing their first 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286000"/>
            <a:ext cx="2468880" cy="3749039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📖 Boring Wall of Text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500-page dry PDF textbooks full of academic jargon. Zero real-world mechanical models, interactive discovery, or street analogies.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286000"/>
            <a:ext cx="2468880" cy="3749039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💀 Cryptic Tracebacks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Scary red terminal tracebacks (TypeError, IndexError) terrify junior students without explaining why the mistake occurred in plain language.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2286000"/>
            <a:ext cx="2468880" cy="3749039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📉 No Habit Engineering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Zero positive reinforcement or accountability loops. Students lack the dopamine triggers needed to return day after 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Elysia Code Master Architecture Deck  •  Slide 2 of 14  •  http://localhost:8080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2440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A855F7"/>
                </a:solidFill>
              </a:defRPr>
            </a:pPr>
            <a:r>
              <a:t>EDUCATIONAL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Habit Engineering &amp; Psychological Hooks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Applying modern neurological retention mechanics (TikTok, Instagram, Duolingo) to turn programming into a daily addictive ritual.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328416" cy="3749039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👑 Ego-Driven Rank Ladder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Nobody wants to remain a beginner. Elysia playfully provokes the user's ego to climb through 5 distinct developer ranks:</a:t>
            </a:r>
            <a:br/>
            <a:br/>
            <a:r>
              <a:t>• Level 1: NOOB (🐣)</a:t>
            </a:r>
            <a:br/>
            <a:r>
              <a:t>• Level 2: KEYBOARD TOURIST (💻)</a:t>
            </a:r>
            <a:br/>
            <a:r>
              <a:t>• Level 3: SYNTAX WARRIOR (⚔️)</a:t>
            </a:r>
            <a:br/>
            <a:r>
              <a:t>• Level 4: PYTHON SLAYER (🐍)</a:t>
            </a:r>
            <a:br/>
            <a:r>
              <a:t>• Level 5: GRANDMASTER (👑)</a:t>
            </a:r>
            <a:br/>
            <a:br/>
            <a:r>
              <a:t>Each tier unlocks new badges, status titles, and flex privileges.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2286000"/>
            <a:ext cx="3328416" cy="3749039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🔥 Streak Loss Aversion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Daily Streak Engine tracking continuous days of coding.</a:t>
            </a:r>
            <a:br/>
            <a:br/>
            <a:r>
              <a:t>• Behavioral Economics: People fear losing existing progress 2x more than gaining new rewards.</a:t>
            </a:r>
            <a:br/>
            <a:r>
              <a:t>• Glowing navbar flame icon acts as a constant visual commitment device.</a:t>
            </a:r>
            <a:br/>
            <a:r>
              <a:t>• Skips reset the streak, motivating students to write at least one line of code every 24 hours.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2286000"/>
            <a:ext cx="3328416" cy="3749039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🎉 Dopamine Particle Physics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Instant neurological gratification upon code submission:</a:t>
            </a:r>
            <a:br/>
            <a:br/>
            <a:r>
              <a:t>• 90-particle canvas confetti explosion with realistic gravity and rotation physics.</a:t>
            </a:r>
            <a:br/>
            <a:r>
              <a:t>• Web Audio API synthesized fanfare chords (no external sound files required).</a:t>
            </a:r>
            <a:br/>
            <a:r>
              <a:t>• Immediate +50 XP reward pop-up and Senior Bhaiya victory congratulations.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Elysia Code Master Architecture Deck  •  Slide 3 of 14  •  http://localhost:8080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24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ACADEMIC CURRICULUM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19 Granular Subtopics: Zero to Advanced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Structured step-by-step so that even a junior school student with zero computer background can master Python architecture.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468880" cy="182880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📦 Unit 1: Foundations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Python genesis, variables, memory boxes, data types, type casting, print(), input(), f-strings.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286000"/>
            <a:ext cx="2468880" cy="182880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🚥 Unit 2: Logic &amp; Decisions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Comparison operators, if-elif-else roadblocks, logical and/or/not, nested conditional checks.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286000"/>
            <a:ext cx="2468880" cy="182880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🎡 Unit 3: Loops &amp; Iteration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while loops, counters, for loops with range(), loop control (break &amp; continue), nested patterns.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2286000"/>
            <a:ext cx="2468880" cy="182880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🗄️ Unit 4: Data Collections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Lists, indexing &amp; slicing, tuples (immutable locks), dictionaries (key-value), sets &amp; hashing.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3328416" cy="169164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🧩 Unit 5: Modular Functions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def keyword, parameters, return values, default arguments, and local vs global scoping.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4343400"/>
            <a:ext cx="3328416" cy="169164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🏛️ Unit 6: Object-Oriented OOP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Classes, blueprints, __init__ constructor, self pointer, inheritance, and encapsulation.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4343400"/>
            <a:ext cx="3328416" cy="169164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🛡️ Unit 7: Bulletproof Exceptions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try-except-finally blocks, error catching, clean file reading and writing operations.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Elysia Code Master Architecture Deck  •  Slide 4 of 14  •  http://localhost:8080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244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MICRO-PEDAGOGY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Anatomy of Every Subtopic Mastery Card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Every subtopic follows a standardized 7-step pedagogical structure to guarantee clarity, comprehension, and muscle memory.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175504" cy="3749039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📚 Conceptual Foundation &amp; Rules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1. Dual-Language Theory &amp; Metaphor:</a:t>
            </a:r>
            <a:br/>
            <a:r>
              <a:t>   Bilingual explanation (English &amp; Hinglish) paired with mechanical real-world analogies (e.g. Variables as labeled lunchboxes).</a:t>
            </a:r>
            <a:br/>
            <a:br/>
            <a:r>
              <a:t>2. Golden Syntax Rule (Kanoon):</a:t>
            </a:r>
            <a:br/>
            <a:r>
              <a:t>   Explicit rules on why the syntax exists, proper punctuation (colons, quotes), and what happens if broken.</a:t>
            </a:r>
            <a:br/>
            <a:br/>
            <a:r>
              <a:t>3. Two Ready-to-Try Examples:</a:t>
            </a:r>
            <a:br/>
            <a:r>
              <a:t>   1-click 'Try Example 1' and 'Try Example 2' buttons auto-populate the IDE for immediate zero-friction experimentation.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2286000"/>
            <a:ext cx="5175504" cy="3749039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🎯 Active Practice &amp; Verification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4. Hands-On Challenge:</a:t>
            </a:r>
            <a:br/>
            <a:r>
              <a:t>   Specific coding problem with strict Expected Output test cases to verify true mastery.</a:t>
            </a:r>
            <a:br/>
            <a:br/>
            <a:r>
              <a:t>5. Senior Bhaiya Cheer &amp; Ego Reward:</a:t>
            </a:r>
            <a:br/>
            <a:r>
              <a:t>   Humorous street-smart encouragement (e.g. 'Maan gaye Ustaad! Ab loops tumhare aage hath jodenge!').</a:t>
            </a:r>
            <a:br/>
            <a:br/>
            <a:r>
              <a:t>6. Hidden Solution &amp; Hint Accordion:</a:t>
            </a:r>
            <a:br/>
            <a:r>
              <a:t>   Prevents dropout panic by allowing stuck students to reveal hints and drop-in solutions with 1-click clipboard copy.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Elysia Code Master Architecture Deck  •  Slide 5 of 14  •  http://localhost:8080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24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ENGINEERING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Split-Screen Interactive IDE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Zero window switching. Theory sits on the left; high-speed execution sandbox sits on the right.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328416" cy="228600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⚡ Sub-15ms Execution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Native Python 3 execution worker via subprocess with 3.0s threshold timeout protection preventing infinite loop crashes.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2286000"/>
            <a:ext cx="3328416" cy="228600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⌨️ Dynamic Stdin Input Bar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Interactive terminal input bar supporting input() and int(input()) dynamically without socket deadlocks or browser hangs.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2286000"/>
            <a:ext cx="3328416" cy="228600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🌐 Pyodide WASM Fallback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Client-side CPython compiled to WebAssembly running directly inside the browser for true 100% offline functionality.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698480" cy="128016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🛠️ VS Code-Grade Keyboard Shortcuts &amp; Controls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Tab Key Indentation: Inserts 4 true spaces instead of losing browser focus  |  • Ctrl+Enter / Cmd+Enter: Instant Code Run</a:t>
            </a:r>
            <a:br/>
            <a:r>
              <a:t>• Auto-Closing Brackets &amp; Quotes: (), [], {}, '', ""  |  • Live Caret Tracker: Ln X, Col Y  |  • 1-Click .py Script Exporter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Elysia Code Master Architecture Deck  •  Slide 6 of 14  •  http://localhost:8080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24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VISUAL 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Visual Handbook: Mental Models &amp; Analogies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8 multimedia chapters transforming abstract programming syntax into intuitive mechanical physical models.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468880" cy="237744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🚀 Ch 1: Python Superpower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Why Python syntax reads like human English compared to C++ and Java boilerplate.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286000"/>
            <a:ext cx="2468880" cy="237744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📦 Ch 2: Memory Boxes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Variables as physical warehouse storage boxes with data type labels and addresses.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286000"/>
            <a:ext cx="2468880" cy="237744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🚥 Ch 4: Traffic Signals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Control flow and if-elif-else logic visualized as railroad tracks and track switches.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2286000"/>
            <a:ext cx="2468880" cy="237744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🎡 Ch 5: Ferris Wheels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Loops visualized as rotating carnival wheels with safety break switches and step counters.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92040"/>
            <a:ext cx="10698480" cy="114300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✨ 1-Click Sandbox Transfer &amp; Slide Carousel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Every slide features an interactive slide carousel with keyboard arrows, progress dots, and a 'Send to Sandbox' button that loads the concept code directly into the IDE editor with 1 click.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Elysia Code Master Architecture Deck  •  Slide 7 of 14  •  http://localhost:8080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2440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FBBF24"/>
                </a:solidFill>
              </a:defRPr>
            </a:pPr>
            <a:r>
              <a:t>INTELLIGENT MENTORSHIP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Socratic Senior AI &amp; 60s Doubt Buster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Elysia acts like a street-smart college senior bhaiya who explains the 'why' behind errors instead of spoon-feeding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175504" cy="3749039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🕵️‍♂️ Cryptic Traceback Decoder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Translates terrifying Python terminal tracebacks into humorous Indian street analogies:</a:t>
            </a:r>
            <a:br/>
            <a:br/>
            <a:r>
              <a:t>• TypeError (str + int):</a:t>
            </a:r>
            <a:br/>
            <a:r>
              <a:t>  'Bhai! String aur Number ko + se jodne ki koshish kar rahe ho? Ye waisa hi hai jaise Fevicol se Samosa chipkana! str() lagao ya f-string use karo!'</a:t>
            </a:r>
            <a:br/>
            <a:br/>
            <a:r>
              <a:t>• IndexError (list out of range):</a:t>
            </a:r>
            <a:br/>
            <a:r>
              <a:t>  'List me 3 samose hain aur tum 5th mang rahe ho! Python me counting 0 se shuru hoti hai!'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2286000"/>
            <a:ext cx="5175504" cy="3749039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🔍 60-Second Instant Doubt Buster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High-speed indexed instant search across all 19 subtopics and question bank for emergency pre-exam revision:</a:t>
            </a:r>
            <a:br/>
            <a:br/>
            <a:r>
              <a:t>• Type 'input': Instant rule on why input() returns strings and how int(input()) type-casts.</a:t>
            </a:r>
            <a:br/>
            <a:br/>
            <a:r>
              <a:t>• Type 'slice': Visual slice formula [start:stop:step] explained with index numbers.</a:t>
            </a:r>
            <a:br/>
            <a:br/>
            <a:r>
              <a:t>• Type 'colon': Explains indentation hierarchy and loop syntax rules.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Elysia Code Master Architecture Deck  •  Slide 8 of 14  •  http://localhost:8080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2440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A855F7"/>
                </a:solidFill>
              </a:defRPr>
            </a:pPr>
            <a:r>
              <a:t>ASSESSMENT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Question Bank &amp; Semester Mock Exam Mode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Transforming pre-exam anxiety into mastery through filterable question banks and realistic timed examination simulations.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175504" cy="3749039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🎯 Dynamic Multi-Filter Question Bank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Students can customize targeted practice tests across 4 dimensions:</a:t>
            </a:r>
            <a:br/>
            <a:br/>
            <a:r>
              <a:t>• Subject Filter: Python vs HTML/CSS</a:t>
            </a:r>
            <a:br/>
            <a:r>
              <a:t>• Topic Selector: All 19 Subtopics individually selectable</a:t>
            </a:r>
            <a:br/>
            <a:r>
              <a:t>• Difficulty Levels: Easy, Medium, Hard</a:t>
            </a:r>
            <a:br/>
            <a:r>
              <a:t>• Question Batching: 5, 10, or 20 questions at a time</a:t>
            </a:r>
            <a:br/>
            <a:br/>
            <a:r>
              <a:t>Includes expandable glowing Amber Senior Hints that provide guidance without spoiling answers.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2286000"/>
            <a:ext cx="5175504" cy="3749039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⏱️ 25-Minute Timed Mock Exam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Simulates university terminal semester practical and written exams:</a:t>
            </a:r>
            <a:br/>
            <a:br/>
            <a:r>
              <a:t>• Section A: Conceptual MCQs &amp; Syntax Traps</a:t>
            </a:r>
            <a:br/>
            <a:r>
              <a:t>• Section B: Bug Squashing &amp; Code Debugging</a:t>
            </a:r>
            <a:br/>
            <a:r>
              <a:t>• Section C: Logic Building &amp; Algorithm Writing</a:t>
            </a:r>
            <a:br/>
            <a:r>
              <a:t>• Section D: Rapid-Fire Viva Voce Preparation</a:t>
            </a:r>
            <a:br/>
            <a:br/>
            <a:r>
              <a:t>Features automated grading, percentage scoring, and detailed answer explanations.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Elysia Code Master Architecture Deck  •  Slide 9 of 14  •  http://localhost:8080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244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INDUSTRY FIRST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1-Click Printable College Lab Practical File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Eliminating the #1 frustration of engineering and computer students: spending hours formatting manual laboratory practical files.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328416" cy="274320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🎓 University Header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Auto-populates Student Name, Roll Number, Subject Code (e.g. CSE101), Date, and Experiment Index following standard academic university guidelines.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2286000"/>
            <a:ext cx="3328416" cy="274320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📐 Algorithm &amp; Code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Generates step-by-step numbered pseudo-algorithm, formatted syntax-highlighted Python code, and realistic sample terminal execution output.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2286000"/>
            <a:ext cx="3328416" cy="274320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🗣️ Oral Viva Prep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Automatically attaches the professor's top viva examination questions and model answers corresponding directly to the experiment topic.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57800"/>
            <a:ext cx="10698480" cy="82296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🖨️ Zero Word Processing Needed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Click 'Generate' ➔ Instant window.print() opens ➔ Save directly as standard A4 PDF or print on physical sheets!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Elysia Code Master Architecture Deck  •  Slide 10 of 14  •  http://localhost:8080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24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SECURITY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Pure Python Auth &amp; Profile Picture System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Zero external database dependencies. Built entirely using standard Python cryptographic security libraries.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328416" cy="237744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🛡️ SHA-256 + Salt Hashing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Passwords are never stored in plain text. Securely salted with unique random cryptographic hex strings in data/users.json.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2286000"/>
            <a:ext cx="3328416" cy="237744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📸 Profile Picture Engine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Upload custom device photos (Base64 file stream) or choose from 8 developer avatars with glowing preview circles.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2286000"/>
            <a:ext cx="3328416" cy="237744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🔄 Multi-User Isolation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Each user account maintains separate XP, daily streak, completed subtopic checklists, and study stopwatch times.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92040"/>
            <a:ext cx="10698480" cy="114300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👤 Dynamic Navbar Capsule &amp; Profile Management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Logged Out: Glowing '✨ Sign In / Log In' button  |  • Logged In: Coder capsule with circular avatar photo, name, and rank tag</a:t>
            </a:r>
            <a:br/>
            <a:r>
              <a:t>• Edit Profile Modal: Update display name, developer motto, or photo anytime  |  • Safe 1-Click Logout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Elysia Code Master Architecture Deck  •  Slide 11 of 14  •  http://localhost:8080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2440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A855F7"/>
                </a:solidFill>
              </a:defRPr>
            </a:pPr>
            <a:r>
              <a:t>VIRAL GROWTH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Gamification &amp; 3D Holographic Flex Card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Designed to tap into peer motivation by making coding achievements instantly shareable on social networks.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175504" cy="3749039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🎴 3D Holographic Parallax Card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Spatial computing perspective physics that dynamically tilts and highlights based on cursor movement:</a:t>
            </a:r>
            <a:br/>
            <a:br/>
            <a:r>
              <a:t>• Displays User Avatar Photo &amp; Real Name</a:t>
            </a:r>
            <a:br/>
            <a:r>
              <a:t>• Active Ego Rank Title (e.g. PYTHON SLAYER)</a:t>
            </a:r>
            <a:br/>
            <a:r>
              <a:t>• Total Subtopics Mastered Fraction &amp; Daily Streak</a:t>
            </a:r>
            <a:br/>
            <a:r>
              <a:t>• Formatted for instant 1-click sharing on Instagram Stories, WhatsApp Status, and LinkedIn.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2286000"/>
            <a:ext cx="5175504" cy="3749039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⏱️ Live Productivity Stopwatch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Real-time tick-by-tick time counter tracking active study duration:</a:t>
            </a:r>
            <a:br/>
            <a:br/>
            <a:r>
              <a:t>• Time Spent Today: Measures daily focus blocks (HH:MM:SS)</a:t>
            </a:r>
            <a:br/>
            <a:r>
              <a:t>• All-Time Learning Time: Accumulates total hours invested in Python</a:t>
            </a:r>
            <a:br/>
            <a:r>
              <a:t>• Automatic Persistence: Saves every 5 seconds and syncs to user profile and flex card.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Elysia Code Master Architecture Deck  •  Slide 12 of 14  •  http://localhost:8080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24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TECHNICAL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Zero-Bloat System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High performance, zero heavy pip frameworks, and sub-15ms response times across all endpoints.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328416" cy="3749039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🖥️ Frontend Architecture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Semantic HTML5 &amp; CSS3 Glassmorphism</a:t>
            </a:r>
            <a:br/>
            <a:r>
              <a:t>• Vanilla ES6+ Class Controller (app.js)</a:t>
            </a:r>
            <a:br/>
            <a:r>
              <a:t>• Pyodide WebAssembly Client Sandbox</a:t>
            </a:r>
            <a:br/>
            <a:r>
              <a:t>• Web Audio API Synthesizer (audio.js)</a:t>
            </a:r>
            <a:br/>
            <a:r>
              <a:t>• Canvas Confetti Physics Engine</a:t>
            </a:r>
            <a:br/>
            <a:r>
              <a:t>• Responsive Desktop &amp; Tablet Layouts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2286000"/>
            <a:ext cx="3328416" cy="3749039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⚙️ Backend Engine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Standard Python 3 http.server</a:t>
            </a:r>
            <a:br/>
            <a:r>
              <a:t>• Non-blocking Threaded Request Handler</a:t>
            </a:r>
            <a:br/>
            <a:r>
              <a:t>• Subprocess Execution Sandbox</a:t>
            </a:r>
            <a:br/>
            <a:r>
              <a:t>• SHA-256 + Salt Cryptographic Auth</a:t>
            </a:r>
            <a:br/>
            <a:r>
              <a:t>• Atomic JSON Data Store (data/)</a:t>
            </a:r>
            <a:br/>
            <a:r>
              <a:t>• Zero SQL Database Dependencies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2286000"/>
            <a:ext cx="3328416" cy="3749039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🚀 Reliability &amp; Benchmarks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9/9 Automated Unit Tests (tests/)</a:t>
            </a:r>
            <a:br/>
            <a:r>
              <a:t>• Test Execution Speed: 0.034 seconds</a:t>
            </a:r>
            <a:br/>
            <a:r>
              <a:t>• Local Code Execution: &lt;15 milliseconds</a:t>
            </a:r>
            <a:br/>
            <a:r>
              <a:t>• 100% Offline Capability via WASM</a:t>
            </a:r>
            <a:br/>
            <a:r>
              <a:t>• Cross-Platform: Mac, Windows, Linux</a:t>
            </a:r>
            <a:br/>
            <a:r>
              <a:t>• Zero External Pip Packages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Elysia Code Master Architecture Deck  •  Slide 13 of 14  •  http://localhost:8080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244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VISION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Future of Elysia Code &amp; Conclusion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Evolving from a standalone mastery platform into the world's most engaging computer science learning network.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328416" cy="228600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⚔️ Phase 2: 1v1 Code Duels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Real-time WebSocket multiplayer battles where students race head-to-head to squash syntax errors and solve algorithms.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2286000"/>
            <a:ext cx="3328416" cy="228600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🌐 Phase 3: Web Dev &amp; AI Tracks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Expanding beyond Python to full interactive sandboxes for HTML/CSS/JavaScript, SQL queries, and beginner Machine Learning.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2286000"/>
            <a:ext cx="3328416" cy="228600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🏫 Phase 4: College Portal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Professor dashboard for assigning weekly lab exercises, auto-evaluating submissions, and detecting batch-wide knowledge gaps.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698480" cy="1280160"/>
          </a:xfrm>
          <a:prstGeom prst="roundRect">
            <a:avLst/>
          </a:prstGeom>
          <a:solidFill>
            <a:srgbClr val="12244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Thank You! Questions &amp; Live Demonstration</a:t>
            </a:r>
          </a:p>
          <a:p>
            <a:pPr algn="ctr">
              <a:spcBef>
                <a:spcPts val="400"/>
              </a:spcBef>
              <a:defRPr sz="1200">
                <a:solidFill>
                  <a:srgbClr val="38BDF8"/>
                </a:solidFill>
              </a:defRPr>
            </a:pPr>
            <a:r>
              <a:t>Platform Running Live at: http://localhost:8080  •  Presentation Deck: http://localhost:8080/presentation.html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Elysia Code Master Architecture Deck  •  Slide 14 of 14  •  http://localhost:8080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